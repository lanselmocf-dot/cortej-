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gZs+BQ+xq0Ihng9Fae77hSK4sCy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6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6" name="Google Shape;96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" name="Google Shape;10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3" name="Google Shape;11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0" name="Google Shape;12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7" name="Google Shape;12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3" name="Google Shape;13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9" name="Google Shape;13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5" name="Google Shape;14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1" name="Google Shape;15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7" name="Google Shape;15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734e69e4a9_0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3" name="Google Shape;163;g3734e69e4a9_0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showMasterSp="0" type="title">
  <p:cSld name="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3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rgbClr val="1482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3"/>
          <p:cNvSpPr/>
          <p:nvPr/>
        </p:nvSpPr>
        <p:spPr>
          <a:xfrm>
            <a:off x="-1" y="0"/>
            <a:ext cx="12192000" cy="4572001"/>
          </a:xfrm>
          <a:custGeom>
            <a:rect b="b" l="l" r="r" t="t"/>
            <a:pathLst>
              <a:path extrusionOk="0" h="4572001" w="12192000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13"/>
          <p:cNvSpPr txBox="1"/>
          <p:nvPr>
            <p:ph type="ctrTitle"/>
          </p:nvPr>
        </p:nvSpPr>
        <p:spPr>
          <a:xfrm>
            <a:off x="457200" y="4960137"/>
            <a:ext cx="7772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" type="subTitle"/>
          </p:nvPr>
        </p:nvSpPr>
        <p:spPr>
          <a:xfrm>
            <a:off x="8610600" y="4960137"/>
            <a:ext cx="3200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0C0C0C"/>
                </a:solidFill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1" name="Google Shape;21;p13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3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3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cxnSp>
        <p:nvCxnSpPr>
          <p:cNvPr id="24" name="Google Shape;24;p13"/>
          <p:cNvCxnSpPr/>
          <p:nvPr/>
        </p:nvCxnSpPr>
        <p:spPr>
          <a:xfrm rot="10800000">
            <a:off x="8386843" y="5264106"/>
            <a:ext cx="0" cy="914400"/>
          </a:xfrm>
          <a:prstGeom prst="straightConnector1">
            <a:avLst/>
          </a:prstGeom>
          <a:noFill/>
          <a:ln cap="flat" cmpd="sng" w="19050">
            <a:solidFill>
              <a:srgbClr val="1482AB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is Conteúdos" type="twoObj">
  <p:cSld name="TWO_OBJECT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4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4"/>
          <p:cNvSpPr txBox="1"/>
          <p:nvPr>
            <p:ph idx="1" type="body"/>
          </p:nvPr>
        </p:nvSpPr>
        <p:spPr>
          <a:xfrm>
            <a:off x="1024127" y="2286000"/>
            <a:ext cx="475488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28" name="Google Shape;28;p14"/>
          <p:cNvSpPr txBox="1"/>
          <p:nvPr>
            <p:ph idx="2" type="body"/>
          </p:nvPr>
        </p:nvSpPr>
        <p:spPr>
          <a:xfrm>
            <a:off x="5989320" y="2286000"/>
            <a:ext cx="475488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29" name="Google Shape;29;p14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4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5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5"/>
          <p:cNvSpPr txBox="1"/>
          <p:nvPr>
            <p:ph idx="1" type="body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5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5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showMasterSp="0" type="secHead">
  <p:cSld name="SECTION_HEAD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6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rgbClr val="1D9A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16"/>
          <p:cNvSpPr/>
          <p:nvPr/>
        </p:nvSpPr>
        <p:spPr>
          <a:xfrm>
            <a:off x="-1" y="0"/>
            <a:ext cx="12192000" cy="4572001"/>
          </a:xfrm>
          <a:custGeom>
            <a:rect b="b" l="l" r="r" t="t"/>
            <a:pathLst>
              <a:path extrusionOk="0" h="4572001" w="12192000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16"/>
          <p:cNvSpPr txBox="1"/>
          <p:nvPr>
            <p:ph type="title"/>
          </p:nvPr>
        </p:nvSpPr>
        <p:spPr>
          <a:xfrm>
            <a:off x="457200" y="4960137"/>
            <a:ext cx="7772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  <a:defRPr b="0"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" type="body"/>
          </p:nvPr>
        </p:nvSpPr>
        <p:spPr>
          <a:xfrm>
            <a:off x="8610600" y="4960137"/>
            <a:ext cx="3200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0C0C0C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3" name="Google Shape;43;p16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6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6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cxnSp>
        <p:nvCxnSpPr>
          <p:cNvPr id="46" name="Google Shape;46;p16"/>
          <p:cNvCxnSpPr/>
          <p:nvPr/>
        </p:nvCxnSpPr>
        <p:spPr>
          <a:xfrm rot="10800000">
            <a:off x="8386843" y="5264106"/>
            <a:ext cx="0" cy="914400"/>
          </a:xfrm>
          <a:prstGeom prst="straightConnector1">
            <a:avLst/>
          </a:prstGeom>
          <a:noFill/>
          <a:ln cap="flat" cmpd="sng" w="19050">
            <a:solidFill>
              <a:srgbClr val="1482AB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7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7"/>
          <p:cNvSpPr txBox="1"/>
          <p:nvPr>
            <p:ph idx="1" type="body"/>
          </p:nvPr>
        </p:nvSpPr>
        <p:spPr>
          <a:xfrm>
            <a:off x="1024128" y="2179636"/>
            <a:ext cx="4754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137150" spcFirstLastPara="1" rIns="13715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b="0" sz="2300" cap="none">
                <a:solidFill>
                  <a:schemeClr val="accen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17"/>
          <p:cNvSpPr txBox="1"/>
          <p:nvPr>
            <p:ph idx="2" type="body"/>
          </p:nvPr>
        </p:nvSpPr>
        <p:spPr>
          <a:xfrm>
            <a:off x="1024128" y="2967788"/>
            <a:ext cx="4754880" cy="33415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51" name="Google Shape;51;p17"/>
          <p:cNvSpPr txBox="1"/>
          <p:nvPr>
            <p:ph idx="3" type="body"/>
          </p:nvPr>
        </p:nvSpPr>
        <p:spPr>
          <a:xfrm>
            <a:off x="5990888" y="2179636"/>
            <a:ext cx="4754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137150" spcFirstLastPara="1" rIns="13715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b="0" sz="2300" cap="none">
                <a:solidFill>
                  <a:schemeClr val="accen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2" name="Google Shape;52;p17"/>
          <p:cNvSpPr txBox="1"/>
          <p:nvPr>
            <p:ph idx="4" type="body"/>
          </p:nvPr>
        </p:nvSpPr>
        <p:spPr>
          <a:xfrm>
            <a:off x="5990888" y="2967788"/>
            <a:ext cx="4754880" cy="33415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7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7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8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8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8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showMasterSp="0" type="blank">
  <p:cSld name="BLANK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9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0"/>
          <p:cNvSpPr txBox="1"/>
          <p:nvPr>
            <p:ph type="title"/>
          </p:nvPr>
        </p:nvSpPr>
        <p:spPr>
          <a:xfrm>
            <a:off x="1024128" y="471509"/>
            <a:ext cx="438912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000"/>
              <a:buFont typeface="Twentieth Century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1" type="body"/>
          </p:nvPr>
        </p:nvSpPr>
        <p:spPr>
          <a:xfrm>
            <a:off x="5715000" y="822960"/>
            <a:ext cx="5678424" cy="51846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Char char=" "/>
              <a:defRPr sz="2400"/>
            </a:lvl1pPr>
            <a:lvl2pPr indent="-355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Char char="?"/>
              <a:defRPr sz="2000"/>
            </a:lvl2pPr>
            <a:lvl3pPr indent="-3302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?"/>
              <a:defRPr sz="1600"/>
            </a:lvl3pPr>
            <a:lvl4pPr indent="-3302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?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?"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?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?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?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Char char="?"/>
              <a:defRPr sz="1600"/>
            </a:lvl9pPr>
          </a:lstStyle>
          <a:p/>
        </p:txBody>
      </p:sp>
      <p:sp>
        <p:nvSpPr>
          <p:cNvPr id="68" name="Google Shape;68;p20"/>
          <p:cNvSpPr txBox="1"/>
          <p:nvPr>
            <p:ph idx="2" type="body"/>
          </p:nvPr>
        </p:nvSpPr>
        <p:spPr>
          <a:xfrm>
            <a:off x="1024128" y="2257506"/>
            <a:ext cx="4389120" cy="37622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8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20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showMasterSp="0" type="picTx">
  <p:cSld name="PICTURE_WITH_CAPTION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1"/>
          <p:cNvSpPr txBox="1"/>
          <p:nvPr>
            <p:ph type="title"/>
          </p:nvPr>
        </p:nvSpPr>
        <p:spPr>
          <a:xfrm>
            <a:off x="457200" y="4960138"/>
            <a:ext cx="7772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1"/>
          <p:cNvSpPr/>
          <p:nvPr>
            <p:ph idx="2" type="pic"/>
          </p:nvPr>
        </p:nvSpPr>
        <p:spPr>
          <a:xfrm>
            <a:off x="0" y="-1"/>
            <a:ext cx="12188952" cy="4572000"/>
          </a:xfrm>
          <a:prstGeom prst="rect">
            <a:avLst/>
          </a:prstGeom>
          <a:solidFill>
            <a:srgbClr val="76CEEF"/>
          </a:solidFill>
          <a:ln>
            <a:noFill/>
          </a:ln>
        </p:spPr>
      </p:sp>
      <p:sp>
        <p:nvSpPr>
          <p:cNvPr id="75" name="Google Shape;75;p21"/>
          <p:cNvSpPr txBox="1"/>
          <p:nvPr>
            <p:ph idx="1" type="body"/>
          </p:nvPr>
        </p:nvSpPr>
        <p:spPr>
          <a:xfrm>
            <a:off x="8610600" y="4960138"/>
            <a:ext cx="3200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0C0C0C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76" name="Google Shape;76;p21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cxnSp>
        <p:nvCxnSpPr>
          <p:cNvPr id="79" name="Google Shape;79;p21"/>
          <p:cNvCxnSpPr/>
          <p:nvPr/>
        </p:nvCxnSpPr>
        <p:spPr>
          <a:xfrm rot="10800000">
            <a:off x="8386843" y="5264106"/>
            <a:ext cx="0" cy="9144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2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2"/>
          <p:cNvSpPr txBox="1"/>
          <p:nvPr>
            <p:ph idx="1" type="body"/>
          </p:nvPr>
        </p:nvSpPr>
        <p:spPr>
          <a:xfrm rot="5400000">
            <a:off x="3872485" y="-562356"/>
            <a:ext cx="4023360" cy="97200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83" name="Google Shape;83;p22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2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2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showMasterSp="0" type="vertTitleAndTx">
  <p:cSld name="VERTICAL_TITLE_AND_VERTICAL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3"/>
          <p:cNvSpPr txBox="1"/>
          <p:nvPr>
            <p:ph type="title"/>
          </p:nvPr>
        </p:nvSpPr>
        <p:spPr>
          <a:xfrm rot="5400000">
            <a:off x="7334251" y="2152650"/>
            <a:ext cx="54102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5700" spcFirstLastPara="1" rIns="45700" wrap="square" tIns="91425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3"/>
          <p:cNvSpPr txBox="1"/>
          <p:nvPr>
            <p:ph idx="1" type="body"/>
          </p:nvPr>
        </p:nvSpPr>
        <p:spPr>
          <a:xfrm rot="5400000">
            <a:off x="2076451" y="-323850"/>
            <a:ext cx="5410200" cy="75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89" name="Google Shape;89;p23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23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23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cxnSp>
        <p:nvCxnSpPr>
          <p:cNvPr id="92" name="Google Shape;92;p23"/>
          <p:cNvCxnSpPr/>
          <p:nvPr/>
        </p:nvCxnSpPr>
        <p:spPr>
          <a:xfrm rot="10800000">
            <a:off x="10058400" y="59263"/>
            <a:ext cx="0" cy="9144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  <a:defRPr b="0" i="0" sz="5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2"/>
          <p:cNvSpPr txBox="1"/>
          <p:nvPr>
            <p:ph idx="1" type="body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683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Twentieth Century"/>
              <a:buChar char=" "/>
              <a:defRPr b="0" i="0" sz="22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🢝"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🢝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🢝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🢝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🢝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🢝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🢝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Noto Sans Symbols"/>
              <a:buChar char="🢝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12" name="Google Shape;12;p12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13" name="Google Shape;13;p12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14" name="Google Shape;14;p12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cxnSp>
        <p:nvCxnSpPr>
          <p:cNvPr id="15" name="Google Shape;15;p12"/>
          <p:cNvCxnSpPr/>
          <p:nvPr/>
        </p:nvCxnSpPr>
        <p:spPr>
          <a:xfrm rot="10800000">
            <a:off x="762000" y="826324"/>
            <a:ext cx="0" cy="9144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>
    <mc:Choice Requires="p14">
      <p:transition spd="slow" p14:dur="2700">
        <p14:prism dir="l"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"/>
          <p:cNvSpPr/>
          <p:nvPr/>
        </p:nvSpPr>
        <p:spPr>
          <a:xfrm>
            <a:off x="3274" y="0"/>
            <a:ext cx="12188726" cy="685897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99" name="Google Shape;99;p1"/>
          <p:cNvPicPr preferRelativeResize="0"/>
          <p:nvPr/>
        </p:nvPicPr>
        <p:blipFill rotWithShape="1">
          <a:blip r:embed="rId3">
            <a:alphaModFix/>
          </a:blip>
          <a:srcRect b="-1" l="0" r="52444" t="0"/>
          <a:stretch/>
        </p:blipFill>
        <p:spPr>
          <a:xfrm>
            <a:off x="20" y="975"/>
            <a:ext cx="1219198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"/>
          <p:cNvSpPr/>
          <p:nvPr/>
        </p:nvSpPr>
        <p:spPr>
          <a:xfrm>
            <a:off x="3896786" y="3064931"/>
            <a:ext cx="8295215" cy="2488568"/>
          </a:xfrm>
          <a:prstGeom prst="rect">
            <a:avLst/>
          </a:prstGeom>
          <a:solidFill>
            <a:srgbClr val="000001">
              <a:alpha val="74509"/>
            </a:srgbClr>
          </a:solidFill>
          <a:ln>
            <a:noFill/>
          </a:ln>
          <a:effectLst>
            <a:outerShdw blurRad="50800" rotWithShape="0" algn="ctr" dir="5400000" dist="12700">
              <a:srgbClr val="000000">
                <a:alpha val="4941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01" name="Google Shape;101;p1"/>
          <p:cNvSpPr txBox="1"/>
          <p:nvPr>
            <p:ph type="ctrTitle"/>
          </p:nvPr>
        </p:nvSpPr>
        <p:spPr>
          <a:xfrm>
            <a:off x="4309349" y="3429000"/>
            <a:ext cx="7501651" cy="10909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Twentieth Century"/>
              <a:buNone/>
            </a:pPr>
            <a:r>
              <a:rPr lang="pt-BR">
                <a:solidFill>
                  <a:srgbClr val="FFFFFF"/>
                </a:solidFill>
              </a:rPr>
              <a:t>PROGRAMAÇÃO ORIENTADA A OBJETOS</a:t>
            </a:r>
            <a:endParaRPr/>
          </a:p>
        </p:txBody>
      </p:sp>
      <p:sp>
        <p:nvSpPr>
          <p:cNvPr id="102" name="Google Shape;102;p1"/>
          <p:cNvSpPr txBox="1"/>
          <p:nvPr>
            <p:ph idx="1" type="subTitle"/>
          </p:nvPr>
        </p:nvSpPr>
        <p:spPr>
          <a:xfrm>
            <a:off x="4309349" y="4779313"/>
            <a:ext cx="7501650" cy="5148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BR">
                <a:solidFill>
                  <a:srgbClr val="FFFFFF"/>
                </a:solidFill>
              </a:rPr>
              <a:t> Fernando Henrique Vieira Trindade</a:t>
            </a:r>
            <a:endParaRPr/>
          </a:p>
        </p:txBody>
      </p:sp>
      <p:cxnSp>
        <p:nvCxnSpPr>
          <p:cNvPr id="103" name="Google Shape;103;p1"/>
          <p:cNvCxnSpPr/>
          <p:nvPr/>
        </p:nvCxnSpPr>
        <p:spPr>
          <a:xfrm>
            <a:off x="4309349" y="4666480"/>
            <a:ext cx="6832499" cy="0"/>
          </a:xfrm>
          <a:prstGeom prst="straightConnector1">
            <a:avLst/>
          </a:prstGeom>
          <a:noFill/>
          <a:ln cap="flat" cmpd="sng" w="22225">
            <a:solidFill>
              <a:srgbClr val="4AC4E3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ctr" dir="5400000" dist="12700">
              <a:srgbClr val="000000">
                <a:alpha val="49411"/>
              </a:srgbClr>
            </a:outerShdw>
          </a:effectLst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pt-BR"/>
              <a:t>O PARADIGMA DA ORIENTAÇÃO A OBJETOS</a:t>
            </a:r>
            <a:endParaRPr/>
          </a:p>
        </p:txBody>
      </p:sp>
      <p:sp>
        <p:nvSpPr>
          <p:cNvPr id="109" name="Google Shape;109;p2"/>
          <p:cNvSpPr txBox="1"/>
          <p:nvPr>
            <p:ph idx="1" type="body"/>
          </p:nvPr>
        </p:nvSpPr>
        <p:spPr>
          <a:xfrm>
            <a:off x="1024127" y="2286000"/>
            <a:ext cx="475488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9144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•"/>
            </a:pPr>
            <a:r>
              <a:rPr lang="pt-BR"/>
              <a:t>Um modo de pensar e estruturar software.</a:t>
            </a:r>
            <a:endParaRPr/>
          </a:p>
          <a:p>
            <a:pPr indent="-9144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200"/>
              <a:buFont typeface="Arial"/>
              <a:buChar char="•"/>
            </a:pPr>
            <a:r>
              <a:rPr lang="pt-BR"/>
              <a:t>Organiza o código em torno de "objetos" que possuem dados (atributos) e comportamentos (métodos).</a:t>
            </a:r>
            <a:endParaRPr/>
          </a:p>
          <a:p>
            <a:pPr indent="-9144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200"/>
              <a:buFont typeface="Arial"/>
              <a:buChar char="•"/>
            </a:pPr>
            <a:r>
              <a:rPr lang="pt-BR"/>
              <a:t>Contrasta com a programação procedural (foco em sequências de instruções).</a:t>
            </a:r>
            <a:endParaRPr/>
          </a:p>
          <a:p>
            <a:pPr indent="-9144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200"/>
              <a:buFont typeface="Arial"/>
              <a:buChar char="•"/>
            </a:pPr>
            <a:r>
              <a:rPr lang="pt-BR"/>
              <a:t>Benefícios: Reutilização de código, organização, flexibilidade, facilidade de manutenção.</a:t>
            </a:r>
            <a:endParaRPr/>
          </a:p>
        </p:txBody>
      </p:sp>
      <p:pic>
        <p:nvPicPr>
          <p:cNvPr descr="Diagrama" id="110" name="Google Shape;110;p2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89638" y="2963766"/>
            <a:ext cx="4754562" cy="26671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9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6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pt-BR"/>
              <a:t>CONCEITOS ESSENCIAIS: CLASSES E OBJETOS</a:t>
            </a:r>
            <a:endParaRPr/>
          </a:p>
        </p:txBody>
      </p:sp>
      <p:sp>
        <p:nvSpPr>
          <p:cNvPr id="116" name="Google Shape;116;p3"/>
          <p:cNvSpPr txBox="1"/>
          <p:nvPr>
            <p:ph idx="1" type="body"/>
          </p:nvPr>
        </p:nvSpPr>
        <p:spPr>
          <a:xfrm>
            <a:off x="1024127" y="2286000"/>
            <a:ext cx="475488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9144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•"/>
            </a:pPr>
            <a:r>
              <a:rPr b="1" lang="pt-BR"/>
              <a:t>Classes:</a:t>
            </a:r>
            <a:endParaRPr/>
          </a:p>
          <a:p>
            <a:pPr indent="-137159" lvl="1" marL="265176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pt-BR"/>
              <a:t>Definição: Um modelo, um blueprint para criar objetos.</a:t>
            </a:r>
            <a:endParaRPr/>
          </a:p>
          <a:p>
            <a:pPr indent="-137159" lvl="1" marL="265176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pt-BR"/>
              <a:t>Contém a descrição dos atributos (dados) e métodos (ações) que os objetos desta classe terão.</a:t>
            </a:r>
            <a:endParaRPr/>
          </a:p>
        </p:txBody>
      </p:sp>
      <p:pic>
        <p:nvPicPr>
          <p:cNvPr id="117" name="Google Shape;117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59947" y="2222922"/>
            <a:ext cx="6055300" cy="348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pt-BR"/>
              <a:t>CONCEITOS ESSENCIAIS: CLASSES E OBJETOS</a:t>
            </a:r>
            <a:endParaRPr/>
          </a:p>
        </p:txBody>
      </p:sp>
      <p:sp>
        <p:nvSpPr>
          <p:cNvPr id="123" name="Google Shape;123;p4"/>
          <p:cNvSpPr txBox="1"/>
          <p:nvPr>
            <p:ph idx="1" type="body"/>
          </p:nvPr>
        </p:nvSpPr>
        <p:spPr>
          <a:xfrm>
            <a:off x="1024127" y="2286000"/>
            <a:ext cx="475488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9144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•"/>
            </a:pPr>
            <a:r>
              <a:rPr b="1" lang="pt-BR"/>
              <a:t>Objetos:</a:t>
            </a:r>
            <a:endParaRPr/>
          </a:p>
          <a:p>
            <a:pPr indent="-137159" lvl="1" marL="265176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pt-BR"/>
              <a:t>Definição: Uma instância específica de uma classe.</a:t>
            </a:r>
            <a:endParaRPr/>
          </a:p>
          <a:p>
            <a:pPr indent="-137159" lvl="1" marL="265176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pt-BR"/>
              <a:t>Cada objeto criado a partir de uma classe terá seus próprios valores para os atributos.</a:t>
            </a:r>
            <a:endParaRPr/>
          </a:p>
        </p:txBody>
      </p:sp>
      <p:pic>
        <p:nvPicPr>
          <p:cNvPr id="124" name="Google Shape;124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31395" y="2237220"/>
            <a:ext cx="6158575" cy="2069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"/>
          <p:cNvSpPr txBox="1"/>
          <p:nvPr>
            <p:ph type="title"/>
          </p:nvPr>
        </p:nvSpPr>
        <p:spPr>
          <a:xfrm>
            <a:off x="1024125" y="585225"/>
            <a:ext cx="10346700" cy="149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pt-BR"/>
              <a:t>OS 4 PILARES DA POO: </a:t>
            </a:r>
            <a:r>
              <a:rPr b="1" lang="pt-BR"/>
              <a:t>ABSTRAÇÃO</a:t>
            </a:r>
            <a:endParaRPr b="1"/>
          </a:p>
        </p:txBody>
      </p:sp>
      <p:sp>
        <p:nvSpPr>
          <p:cNvPr id="130" name="Google Shape;130;p5"/>
          <p:cNvSpPr txBox="1"/>
          <p:nvPr>
            <p:ph idx="1" type="body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9144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•"/>
            </a:pPr>
            <a:r>
              <a:rPr b="1" lang="pt-BR"/>
              <a:t>Definição:</a:t>
            </a:r>
            <a:r>
              <a:rPr lang="pt-BR"/>
              <a:t> Ignorar detalhes não relevantes e focar nas características essenciais de um objeto.</a:t>
            </a:r>
            <a:endParaRPr/>
          </a:p>
          <a:p>
            <a:pPr indent="-9144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200"/>
              <a:buFont typeface="Arial"/>
              <a:buChar char="•"/>
            </a:pPr>
            <a:r>
              <a:rPr b="1" lang="pt-BR"/>
              <a:t>Propósito:</a:t>
            </a:r>
            <a:r>
              <a:rPr lang="pt-BR"/>
              <a:t> Simplificar a complexidade, criar modelos mais claros e fáceis de entender.</a:t>
            </a:r>
            <a:endParaRPr/>
          </a:p>
          <a:p>
            <a:pPr indent="-9144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200"/>
              <a:buFont typeface="Arial"/>
              <a:buChar char="•"/>
            </a:pPr>
            <a:r>
              <a:rPr b="1" lang="pt-BR"/>
              <a:t>Exemplo:</a:t>
            </a:r>
            <a:r>
              <a:rPr lang="pt-BR"/>
              <a:t> Ao pensar em um "Carro", focamos em "cor", "modelo", "velocidade" e ações como "ligar", "acelerar", sem nos preocuparmos com o funcionamento interno do motor em um nível baixo (inicialmente).</a:t>
            </a:r>
            <a:endParaRPr/>
          </a:p>
          <a:p>
            <a:pPr indent="-9144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200"/>
              <a:buFont typeface="Arial"/>
              <a:buChar char="•"/>
            </a:pPr>
            <a:r>
              <a:rPr b="1" lang="pt-BR"/>
              <a:t>Em Java:</a:t>
            </a:r>
            <a:r>
              <a:rPr lang="pt-BR"/>
              <a:t> Interfaces e classes abstratas e modificadores de acesso são mecanismos para implementar abstração.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1100">
        <p14:prism dir="l"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500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pt-BR"/>
              <a:t>OS 4 PILARES DA POO: </a:t>
            </a:r>
            <a:r>
              <a:rPr b="1" lang="pt-BR"/>
              <a:t>ENCAPSULAMENTO</a:t>
            </a:r>
            <a:endParaRPr b="1"/>
          </a:p>
        </p:txBody>
      </p:sp>
      <p:sp>
        <p:nvSpPr>
          <p:cNvPr id="136" name="Google Shape;136;p6"/>
          <p:cNvSpPr txBox="1"/>
          <p:nvPr>
            <p:ph idx="1" type="body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9144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•"/>
            </a:pPr>
            <a:r>
              <a:rPr b="1" lang="pt-BR"/>
              <a:t>Definição:</a:t>
            </a:r>
            <a:r>
              <a:rPr lang="pt-BR"/>
              <a:t> Agrupar os atributos (dados) e métodos (comportamentos) dentro de uma classe e controlar o acesso aos atributos.</a:t>
            </a:r>
            <a:endParaRPr/>
          </a:p>
          <a:p>
            <a:pPr indent="-9144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200"/>
              <a:buFont typeface="Arial"/>
              <a:buChar char="•"/>
            </a:pPr>
            <a:r>
              <a:rPr b="1" lang="pt-BR"/>
              <a:t>Propósito:</a:t>
            </a:r>
            <a:r>
              <a:rPr lang="pt-BR"/>
              <a:t> Proteger os dados de modificações diretas e indesejadas, garantindo a integridade do objeto. Promove a coesão e reduz o acoplamento.</a:t>
            </a:r>
            <a:endParaRPr/>
          </a:p>
          <a:p>
            <a:pPr indent="-9144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200"/>
              <a:buFont typeface="Arial"/>
              <a:buChar char="•"/>
            </a:pPr>
            <a:r>
              <a:rPr b="1" lang="pt-BR"/>
              <a:t>Em Java:</a:t>
            </a:r>
            <a:r>
              <a:rPr lang="pt-BR"/>
              <a:t> Modificadores de acesso (public, private, protected,package-private) são usados para controlar a visibilidade.</a:t>
            </a:r>
            <a:endParaRPr/>
          </a:p>
          <a:p>
            <a:pPr indent="-9144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200"/>
              <a:buFont typeface="Arial"/>
              <a:buChar char="•"/>
            </a:pPr>
            <a:r>
              <a:rPr b="1" lang="pt-BR"/>
              <a:t>Analogia:</a:t>
            </a:r>
            <a:r>
              <a:rPr lang="pt-BR"/>
              <a:t> Uma cápsula que contém os dados e os métodos para manipulá-los, com controle sobre o que é exposto.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pt-BR"/>
              <a:t>OS 4 PILARES DA POO: </a:t>
            </a:r>
            <a:r>
              <a:rPr b="1" lang="pt-BR"/>
              <a:t>HERANÇA</a:t>
            </a:r>
            <a:endParaRPr b="1"/>
          </a:p>
        </p:txBody>
      </p:sp>
      <p:sp>
        <p:nvSpPr>
          <p:cNvPr id="142" name="Google Shape;142;p7"/>
          <p:cNvSpPr txBox="1"/>
          <p:nvPr>
            <p:ph idx="1" type="body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9144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•"/>
            </a:pPr>
            <a:r>
              <a:rPr b="1" lang="pt-BR"/>
              <a:t>Definição:</a:t>
            </a:r>
            <a:r>
              <a:rPr lang="pt-BR"/>
              <a:t> A capacidade de uma classe (subclasse ou classe derivada) herdar atributos e métodos de outra classe (superclasse ou classe base).</a:t>
            </a:r>
            <a:endParaRPr/>
          </a:p>
          <a:p>
            <a:pPr indent="-9144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200"/>
              <a:buFont typeface="Arial"/>
              <a:buChar char="•"/>
            </a:pPr>
            <a:r>
              <a:rPr b="1" lang="pt-BR"/>
              <a:t>Propósito:</a:t>
            </a:r>
            <a:r>
              <a:rPr lang="pt-BR"/>
              <a:t> Evitar a repetição de código, criar uma hierarquia de classes com características comuns, promover a reutilização e a extensibilidade.</a:t>
            </a:r>
            <a:endParaRPr/>
          </a:p>
          <a:p>
            <a:pPr indent="-9144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200"/>
              <a:buFont typeface="Arial"/>
              <a:buChar char="•"/>
            </a:pPr>
            <a:r>
              <a:rPr lang="pt-BR"/>
              <a:t>Exemplo: Uma classe </a:t>
            </a:r>
            <a:r>
              <a:rPr b="1" lang="pt-BR"/>
              <a:t>Cachorro</a:t>
            </a:r>
            <a:r>
              <a:rPr lang="pt-BR"/>
              <a:t> pode herdar características gerais de uma classe </a:t>
            </a:r>
            <a:r>
              <a:rPr b="1" lang="pt-BR"/>
              <a:t>Animal</a:t>
            </a:r>
            <a:r>
              <a:rPr lang="pt-BR"/>
              <a:t> (</a:t>
            </a:r>
            <a:r>
              <a:rPr i="1" lang="pt-BR"/>
              <a:t>como nome, idade, comer </a:t>
            </a:r>
            <a:r>
              <a:rPr lang="pt-BR"/>
              <a:t>) e adicionar comportamentos específicos (</a:t>
            </a:r>
            <a:r>
              <a:rPr i="1" lang="pt-BR"/>
              <a:t>latir</a:t>
            </a:r>
            <a:r>
              <a:rPr lang="pt-BR"/>
              <a:t>).</a:t>
            </a:r>
            <a:endParaRPr/>
          </a:p>
          <a:p>
            <a:pPr indent="-9144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200"/>
              <a:buFont typeface="Arial"/>
              <a:buChar char="•"/>
            </a:pPr>
            <a:r>
              <a:rPr b="1" lang="pt-BR"/>
              <a:t>Em Python:</a:t>
            </a:r>
            <a:r>
              <a:rPr lang="pt-BR"/>
              <a:t> Passamos o nome da classe Base entre parênteses para a classe filha Cachorro(Animal).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pt-BR"/>
              <a:t>OS 4 PILARES DA POO: </a:t>
            </a:r>
            <a:r>
              <a:rPr b="1" lang="pt-BR"/>
              <a:t>POLIMORFISMO</a:t>
            </a:r>
            <a:endParaRPr b="1"/>
          </a:p>
        </p:txBody>
      </p:sp>
      <p:sp>
        <p:nvSpPr>
          <p:cNvPr id="148" name="Google Shape;148;p8"/>
          <p:cNvSpPr txBox="1"/>
          <p:nvPr>
            <p:ph idx="1" type="body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9144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•"/>
            </a:pPr>
            <a:r>
              <a:rPr b="1" lang="pt-BR"/>
              <a:t>Definição:</a:t>
            </a:r>
            <a:r>
              <a:rPr lang="pt-BR"/>
              <a:t> A capacidade de um objeto assumir diferentes formas ou comportamentos em diferentes contextos.</a:t>
            </a:r>
            <a:endParaRPr/>
          </a:p>
          <a:p>
            <a:pPr indent="-9144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200"/>
              <a:buFont typeface="Arial"/>
              <a:buChar char="•"/>
            </a:pPr>
            <a:r>
              <a:rPr b="1" lang="pt-BR"/>
              <a:t>Propósito:</a:t>
            </a:r>
            <a:r>
              <a:rPr lang="pt-BR"/>
              <a:t> Escrever código mais genérico e flexível. Permite que objetos de diferentes classes respondam ao mesmo método de maneiras diferentes.</a:t>
            </a:r>
            <a:endParaRPr/>
          </a:p>
          <a:p>
            <a:pPr indent="-9144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200"/>
              <a:buFont typeface="Arial"/>
              <a:buChar char="•"/>
            </a:pPr>
            <a:r>
              <a:rPr b="1" lang="pt-BR"/>
              <a:t>Tipos: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b="1" lang="pt-BR"/>
              <a:t>Polimorfismo de sobrecarga (Overloading):</a:t>
            </a:r>
            <a:r>
              <a:rPr lang="pt-BR"/>
              <a:t> Múltiplos métodos com o mesmo nome, mas diferentes parâmetros.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b="1" lang="pt-BR"/>
              <a:t>Polimorfismo de sobrescrita (Overriding):</a:t>
            </a:r>
            <a:r>
              <a:rPr lang="pt-BR"/>
              <a:t> Uma subclasse fornece uma implementação específica para um método herdado da superclasse.</a:t>
            </a:r>
            <a:endParaRPr/>
          </a:p>
          <a:p>
            <a:pPr indent="-91440" lvl="0" marL="9144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200"/>
              <a:buFont typeface="Arial"/>
              <a:buChar char="•"/>
            </a:pPr>
            <a:r>
              <a:rPr b="1" lang="pt-BR"/>
              <a:t>Exemplo:</a:t>
            </a:r>
            <a:r>
              <a:rPr lang="pt-BR"/>
              <a:t> Um método </a:t>
            </a:r>
            <a:r>
              <a:rPr i="1" lang="pt-BR"/>
              <a:t>FazerSom() </a:t>
            </a:r>
            <a:r>
              <a:rPr lang="pt-BR"/>
              <a:t>pode se comportar de maneira diferente quando chamado em um objeto </a:t>
            </a:r>
            <a:r>
              <a:rPr b="1" lang="pt-BR"/>
              <a:t>Cachorro </a:t>
            </a:r>
            <a:r>
              <a:rPr lang="pt-BR"/>
              <a:t>(latir) e em um objeto </a:t>
            </a:r>
            <a:r>
              <a:rPr b="1" lang="pt-BR"/>
              <a:t>Gato</a:t>
            </a:r>
            <a:r>
              <a:rPr lang="pt-BR"/>
              <a:t> (miar).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9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pt-BR"/>
              <a:t>CONCLUSÃO: </a:t>
            </a:r>
            <a:endParaRPr/>
          </a:p>
        </p:txBody>
      </p:sp>
      <p:sp>
        <p:nvSpPr>
          <p:cNvPr id="154" name="Google Shape;154;p9"/>
          <p:cNvSpPr txBox="1"/>
          <p:nvPr>
            <p:ph idx="1" type="body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11684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ial"/>
              <a:buChar char="•"/>
            </a:pPr>
            <a:r>
              <a:rPr b="1" lang="pt-BR" sz="2600"/>
              <a:t>Recapitulação:</a:t>
            </a:r>
            <a:endParaRPr sz="2600"/>
          </a:p>
          <a:p>
            <a:pPr indent="-3683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200"/>
              <a:buFont typeface="Arial"/>
              <a:buChar char="•"/>
            </a:pPr>
            <a:r>
              <a:rPr b="1" lang="pt-BR" sz="2200"/>
              <a:t>POO organiza código em objetos</a:t>
            </a:r>
            <a:r>
              <a:rPr lang="pt-BR" sz="2200"/>
              <a:t>.</a:t>
            </a:r>
            <a:endParaRPr sz="2200"/>
          </a:p>
          <a:p>
            <a:pPr indent="-368300" lvl="1" marL="9144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200"/>
              <a:buFont typeface="Arial"/>
              <a:buChar char="•"/>
            </a:pPr>
            <a:r>
              <a:rPr b="1" lang="pt-BR" sz="2200"/>
              <a:t>Classes são modelos, objetos são Instâncias</a:t>
            </a:r>
            <a:r>
              <a:rPr lang="pt-BR" sz="2200"/>
              <a:t>.</a:t>
            </a:r>
            <a:endParaRPr sz="2200"/>
          </a:p>
          <a:p>
            <a:pPr indent="-368300" lvl="1" marL="9144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200"/>
              <a:buFont typeface="Arial"/>
              <a:buChar char="•"/>
            </a:pPr>
            <a:r>
              <a:rPr b="1" lang="pt-BR" sz="2200"/>
              <a:t>Os 4 pilares: </a:t>
            </a:r>
            <a:r>
              <a:rPr lang="pt-BR" sz="2200"/>
              <a:t>Abstração, Encapsulamento, Herança e Polimorfismo.</a:t>
            </a:r>
            <a:endParaRPr sz="22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0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pt-BR"/>
              <a:t>Vantagens vs Desvantagens </a:t>
            </a:r>
            <a:endParaRPr/>
          </a:p>
        </p:txBody>
      </p:sp>
      <p:sp>
        <p:nvSpPr>
          <p:cNvPr id="160" name="Google Shape;160;p10"/>
          <p:cNvSpPr txBox="1"/>
          <p:nvPr>
            <p:ph idx="1" type="body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9144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•"/>
            </a:pPr>
            <a:r>
              <a:rPr b="1" lang="pt-BR"/>
              <a:t>Desvantagens:</a:t>
            </a:r>
            <a:endParaRPr/>
          </a:p>
          <a:p>
            <a:pPr indent="-137159" lvl="1" marL="265176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pt-BR"/>
              <a:t>Complexidade no aprendizado em comparação com outros paradigmas (Ex: estruturado)</a:t>
            </a:r>
            <a:endParaRPr/>
          </a:p>
          <a:p>
            <a:pPr indent="-137159" lvl="1" marL="265176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pt-BR"/>
              <a:t>Conceitos iniciais abstratos. </a:t>
            </a:r>
            <a:endParaRPr/>
          </a:p>
          <a:p>
            <a:pPr indent="0" lvl="0" marL="265176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162559" lvl="1" marL="26517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•"/>
            </a:pPr>
            <a:r>
              <a:rPr b="1" lang="pt-BR" sz="2200"/>
              <a:t>Vantagens:</a:t>
            </a:r>
            <a:endParaRPr sz="2200"/>
          </a:p>
          <a:p>
            <a:pPr indent="-137158" lvl="2" marL="448056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Arial"/>
              <a:buChar char="🢝"/>
            </a:pPr>
            <a:r>
              <a:rPr lang="pt-BR" sz="1800"/>
              <a:t>Mais fácil descrever o mundo real através dos objetos;</a:t>
            </a:r>
            <a:endParaRPr sz="1800"/>
          </a:p>
          <a:p>
            <a:pPr indent="-137158" lvl="2" marL="448056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Arial"/>
              <a:buChar char="🢝"/>
            </a:pPr>
            <a:r>
              <a:rPr lang="pt-BR" sz="1800"/>
              <a:t>Facilita a manutenção do código (buscar alta coesão e baixo acoplamento)</a:t>
            </a:r>
            <a:endParaRPr sz="1800"/>
          </a:p>
          <a:p>
            <a:pPr indent="-137158" lvl="2" marL="448056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Arial"/>
              <a:buChar char="🢝"/>
            </a:pPr>
            <a:r>
              <a:rPr lang="pt-BR" sz="1800"/>
              <a:t>Facilita a reutilização do código. 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734e69e4a9_0_2"/>
          <p:cNvSpPr txBox="1"/>
          <p:nvPr>
            <p:ph type="title"/>
          </p:nvPr>
        </p:nvSpPr>
        <p:spPr>
          <a:xfrm>
            <a:off x="1024128" y="585216"/>
            <a:ext cx="9720000" cy="149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pt-BR"/>
              <a:t>EXERCÍCIO </a:t>
            </a:r>
            <a:endParaRPr/>
          </a:p>
        </p:txBody>
      </p:sp>
      <p:sp>
        <p:nvSpPr>
          <p:cNvPr id="166" name="Google Shape;166;g3734e69e4a9_0_2"/>
          <p:cNvSpPr txBox="1"/>
          <p:nvPr>
            <p:ph idx="1" type="body"/>
          </p:nvPr>
        </p:nvSpPr>
        <p:spPr>
          <a:xfrm>
            <a:off x="634500" y="2000250"/>
            <a:ext cx="10923000" cy="19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 fontScale="92500" lnSpcReduction="20000"/>
          </a:bodyPr>
          <a:lstStyle/>
          <a:p>
            <a:pPr indent="-104457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b="1" lang="pt-BR" sz="2600"/>
              <a:t>Exercícios:</a:t>
            </a:r>
            <a:endParaRPr sz="2600"/>
          </a:p>
          <a:p>
            <a:pPr indent="-152081" lvl="1" marL="265176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b="1" lang="pt-BR" sz="2200"/>
              <a:t>1:</a:t>
            </a:r>
            <a:r>
              <a:rPr lang="pt-BR" sz="2200"/>
              <a:t> Pense em um objetos do mundo real (ex: um carro, um livro, um aluno). Quais seriam seus atributos e métodos? Como você poderia aplicar os conceitos de abstração e encapsulamento, polimorfismo e herança a eles?</a:t>
            </a:r>
            <a:endParaRPr sz="2200"/>
          </a:p>
          <a:p>
            <a:pPr indent="-152081" lvl="1" marL="265176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ct val="100000"/>
              <a:buChar char="•"/>
            </a:pPr>
            <a:r>
              <a:rPr b="1" lang="pt-BR" sz="2200"/>
              <a:t>2: </a:t>
            </a:r>
            <a:r>
              <a:rPr lang="pt-BR" sz="2200"/>
              <a:t>Crie classes atributos e métodos para o cenário da seguinte imagem:</a:t>
            </a:r>
            <a:endParaRPr sz="2200"/>
          </a:p>
          <a:p>
            <a:pPr indent="0" lvl="0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9144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pic>
        <p:nvPicPr>
          <p:cNvPr id="167" name="Google Shape;167;g3734e69e4a9_0_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24163" y="3270150"/>
            <a:ext cx="6343675" cy="3516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Integral">
  <a:themeElements>
    <a:clrScheme name="Integral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2025-06-11T13:52:33Z</dcterms:created>
  <dc:creator>FERNANDO TRINDADE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